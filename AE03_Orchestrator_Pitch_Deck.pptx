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2011680"/>
          </a:xfrm>
          <a:prstGeom prst="rect">
            <a:avLst/>
          </a:prstGeom>
          <a:noFill/>
        </p:spPr>
        <p:txBody>
          <a:bodyPr wrap="square">
            <a:spAutoFit/>
          </a:bodyPr>
          <a:lstStyle/>
          <a:p>
            <a:pPr>
              <a:defRPr sz="6400" b="1">
                <a:solidFill>
                  <a:srgbClr val="06B6D4"/>
                </a:solidFill>
                <a:latin typeface="Segoe UI"/>
              </a:defRPr>
            </a:pPr>
            <a:r>
              <a:t>AE-03 ORCHESTRATOR</a:t>
            </a:r>
          </a:p>
          <a:p>
            <a:pPr>
              <a:spcBef>
                <a:spcPts val="600"/>
              </a:spcBef>
              <a:defRPr sz="2400">
                <a:solidFill>
                  <a:srgbClr val="6366F1"/>
                </a:solidFill>
                <a:latin typeface="Segoe UI"/>
              </a:defRPr>
            </a:pPr>
            <a:r>
              <a:t>Unified Agent Form Orchestration Engine</a:t>
            </a:r>
          </a:p>
        </p:txBody>
      </p:sp>
      <p:sp>
        <p:nvSpPr>
          <p:cNvPr id="4" name="TextBox 3"/>
          <p:cNvSpPr txBox="1"/>
          <p:nvPr/>
        </p:nvSpPr>
        <p:spPr>
          <a:xfrm>
            <a:off x="1097280" y="3931920"/>
            <a:ext cx="10058400" cy="2286000"/>
          </a:xfrm>
          <a:prstGeom prst="rect">
            <a:avLst/>
          </a:prstGeom>
          <a:noFill/>
        </p:spPr>
        <p:txBody>
          <a:bodyPr wrap="square">
            <a:spAutoFit/>
          </a:bodyPr>
          <a:lstStyle/>
          <a:p>
            <a:pPr>
              <a:spcAft>
                <a:spcPts val="1000"/>
              </a:spcAft>
              <a:defRPr sz="1300" b="1">
                <a:solidFill>
                  <a:srgbClr val="06B6D4"/>
                </a:solidFill>
                <a:latin typeface="Segoe UI"/>
              </a:defRPr>
            </a:pPr>
            <a:r>
              <a:t>Team Name: </a:t>
            </a:r>
            <a:r>
              <a:rPr sz="1300" b="0">
                <a:solidFill>
                  <a:srgbClr val="94A3B8"/>
                </a:solidFill>
                <a:latin typeface="Segoe UI"/>
              </a:rPr>
              <a:t>[Enter your Team Name]</a:t>
            </a:r>
          </a:p>
          <a:p>
            <a:pPr>
              <a:spcAft>
                <a:spcPts val="1000"/>
              </a:spcAft>
              <a:defRPr sz="1300" b="1">
                <a:solidFill>
                  <a:srgbClr val="06B6D4"/>
                </a:solidFill>
                <a:latin typeface="Segoe UI"/>
              </a:defRPr>
            </a:pPr>
            <a:r>
              <a:t>Team Leader Name: </a:t>
            </a:r>
            <a:r>
              <a:rPr sz="1300" b="0">
                <a:solidFill>
                  <a:srgbClr val="94A3B8"/>
                </a:solidFill>
                <a:latin typeface="Segoe UI"/>
              </a:rPr>
              <a:t>[Enter Team Leader Name]</a:t>
            </a:r>
          </a:p>
          <a:p>
            <a:pPr>
              <a:spcAft>
                <a:spcPts val="1000"/>
              </a:spcAft>
              <a:defRPr sz="1300" b="1">
                <a:solidFill>
                  <a:srgbClr val="06B6D4"/>
                </a:solidFill>
                <a:latin typeface="Segoe UI"/>
              </a:defRPr>
            </a:pPr>
            <a:r>
              <a:t>Problem Statement: </a:t>
            </a:r>
            <a:r>
              <a:rPr sz="1300" b="0">
                <a:solidFill>
                  <a:srgbClr val="94A3B8"/>
                </a:solidFill>
                <a:latin typeface="Segoe UI"/>
              </a:rPr>
              <a:t>Traditional multi-agent pipelines lack strict tool sandboxing, input/output validation, budget enforcement, and human-in-the-loop audit controls. AE-03 delivers a provider-abstracted engine that compiles goals into safe, typed execution graphs.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latin typeface="Consolas"/>
              </a:defRPr>
            </a:pPr>
            <a:r>
              <a:t>MEMBERS REGISTRY</a:t>
            </a:r>
          </a:p>
        </p:txBody>
      </p:sp>
      <p:sp>
        <p:nvSpPr>
          <p:cNvPr id="4" name="TextBox 3"/>
          <p:cNvSpPr txBox="1"/>
          <p:nvPr/>
        </p:nvSpPr>
        <p:spPr>
          <a:xfrm>
            <a:off x="731520" y="594360"/>
            <a:ext cx="10698480" cy="731520"/>
          </a:xfrm>
          <a:prstGeom prst="rect">
            <a:avLst/>
          </a:prstGeom>
          <a:noFill/>
        </p:spPr>
        <p:txBody>
          <a:bodyPr wrap="square">
            <a:spAutoFit/>
          </a:bodyPr>
          <a:lstStyle/>
          <a:p>
            <a:pPr>
              <a:defRPr sz="2800" b="1">
                <a:solidFill>
                  <a:srgbClr val="F8FAFC"/>
                </a:solidFill>
                <a:latin typeface="Segoe UI"/>
              </a:defRPr>
            </a:pPr>
            <a:r>
              <a:t>Orchestration Team</a:t>
            </a:r>
          </a:p>
        </p:txBody>
      </p:sp>
      <p:sp>
        <p:nvSpPr>
          <p:cNvPr id="5" name="Rounded Rectangle 4"/>
          <p:cNvSpPr/>
          <p:nvPr/>
        </p:nvSpPr>
        <p:spPr>
          <a:xfrm>
            <a:off x="731520" y="1645920"/>
            <a:ext cx="2468880" cy="4114800"/>
          </a:xfrm>
          <a:prstGeom prst="roundRect">
            <a:avLst/>
          </a:prstGeom>
          <a:solidFill>
            <a:srgbClr val="1118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800"/>
              </a:spcAft>
              <a:defRPr sz="1100" b="1">
                <a:solidFill>
                  <a:srgbClr val="06B6D4"/>
                </a:solidFill>
                <a:latin typeface="Consolas"/>
              </a:defRPr>
            </a:pPr>
            <a:r>
              <a:t>TEAM LEADER</a:t>
            </a:r>
          </a:p>
          <a:p>
            <a:pPr>
              <a:spcAft>
                <a:spcPts val="1400"/>
              </a:spcAft>
              <a:defRPr sz="1800" b="1">
                <a:solidFill>
                  <a:srgbClr val="F8FAFC"/>
                </a:solidFill>
                <a:latin typeface="Segoe UI"/>
              </a:defRPr>
            </a:pPr>
            <a:r>
              <a:t>[Leader Name]</a:t>
            </a:r>
          </a:p>
          <a:p>
            <a:pPr>
              <a:defRPr sz="1000">
                <a:solidFill>
                  <a:srgbClr val="94A3B8"/>
                </a:solidFill>
                <a:latin typeface="Segoe UI"/>
              </a:defRPr>
            </a:pPr>
            <a:r>
              <a:t>College:</a:t>
            </a:r>
          </a:p>
          <a:p>
            <a:pPr>
              <a:spcAft>
                <a:spcPts val="1400"/>
              </a:spcAft>
              <a:defRPr sz="1200" b="1">
                <a:solidFill>
                  <a:srgbClr val="F8FAFC"/>
                </a:solidFill>
                <a:latin typeface="Segoe UI"/>
              </a:defRPr>
            </a:pPr>
            <a:r>
              <a:t>[College Name]</a:t>
            </a:r>
          </a:p>
          <a:p>
            <a:pPr>
              <a:defRPr sz="1000">
                <a:solidFill>
                  <a:srgbClr val="94A3B8"/>
                </a:solidFill>
                <a:latin typeface="Segoe UI"/>
              </a:defRPr>
            </a:pPr>
            <a:r>
              <a:t>LinkedIn:</a:t>
            </a:r>
          </a:p>
          <a:p>
            <a:pPr>
              <a:defRPr sz="1100" u="sng">
                <a:solidFill>
                  <a:srgbClr val="06B6D4"/>
                </a:solidFill>
                <a:latin typeface="Segoe UI"/>
              </a:defRPr>
            </a:pPr>
            <a:r>
              <a:t>[LinkedIn link]</a:t>
            </a:r>
          </a:p>
        </p:txBody>
      </p:sp>
      <p:sp>
        <p:nvSpPr>
          <p:cNvPr id="6" name="Rounded Rectangle 5"/>
          <p:cNvSpPr/>
          <p:nvPr/>
        </p:nvSpPr>
        <p:spPr>
          <a:xfrm>
            <a:off x="3383280" y="1645920"/>
            <a:ext cx="2468880" cy="411480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800"/>
              </a:spcAft>
              <a:defRPr sz="1100" b="1">
                <a:solidFill>
                  <a:srgbClr val="6366F1"/>
                </a:solidFill>
                <a:latin typeface="Consolas"/>
              </a:defRPr>
            </a:pPr>
            <a:r>
              <a:t>DEVELOPER 1</a:t>
            </a:r>
          </a:p>
          <a:p>
            <a:pPr>
              <a:spcAft>
                <a:spcPts val="1400"/>
              </a:spcAft>
              <a:defRPr sz="1800" b="1">
                <a:solidFill>
                  <a:srgbClr val="F8FAFC"/>
                </a:solidFill>
                <a:latin typeface="Segoe UI"/>
              </a:defRPr>
            </a:pPr>
            <a:r>
              <a:t>[Member Name]</a:t>
            </a:r>
          </a:p>
          <a:p>
            <a:pPr>
              <a:defRPr sz="1000">
                <a:solidFill>
                  <a:srgbClr val="94A3B8"/>
                </a:solidFill>
                <a:latin typeface="Segoe UI"/>
              </a:defRPr>
            </a:pPr>
            <a:r>
              <a:t>College:</a:t>
            </a:r>
          </a:p>
          <a:p>
            <a:pPr>
              <a:spcAft>
                <a:spcPts val="1400"/>
              </a:spcAft>
              <a:defRPr sz="1200" b="1">
                <a:solidFill>
                  <a:srgbClr val="F8FAFC"/>
                </a:solidFill>
                <a:latin typeface="Segoe UI"/>
              </a:defRPr>
            </a:pPr>
            <a:r>
              <a:t>[College Name]</a:t>
            </a:r>
          </a:p>
          <a:p>
            <a:pPr>
              <a:defRPr sz="1000">
                <a:solidFill>
                  <a:srgbClr val="94A3B8"/>
                </a:solidFill>
                <a:latin typeface="Segoe UI"/>
              </a:defRPr>
            </a:pPr>
            <a:r>
              <a:t>LinkedIn:</a:t>
            </a:r>
          </a:p>
          <a:p>
            <a:pPr>
              <a:defRPr sz="1100" u="sng">
                <a:solidFill>
                  <a:srgbClr val="06B6D4"/>
                </a:solidFill>
                <a:latin typeface="Segoe UI"/>
              </a:defRPr>
            </a:pPr>
            <a:r>
              <a:t>[LinkedIn link]</a:t>
            </a:r>
          </a:p>
        </p:txBody>
      </p:sp>
      <p:sp>
        <p:nvSpPr>
          <p:cNvPr id="7" name="Rounded Rectangle 6"/>
          <p:cNvSpPr/>
          <p:nvPr/>
        </p:nvSpPr>
        <p:spPr>
          <a:xfrm>
            <a:off x="6035040" y="1645920"/>
            <a:ext cx="2468880" cy="411480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800"/>
              </a:spcAft>
              <a:defRPr sz="1100" b="1">
                <a:solidFill>
                  <a:srgbClr val="6366F1"/>
                </a:solidFill>
                <a:latin typeface="Consolas"/>
              </a:defRPr>
            </a:pPr>
            <a:r>
              <a:t>DEVELOPER 2</a:t>
            </a:r>
          </a:p>
          <a:p>
            <a:pPr>
              <a:spcAft>
                <a:spcPts val="1400"/>
              </a:spcAft>
              <a:defRPr sz="1800" b="1">
                <a:solidFill>
                  <a:srgbClr val="F8FAFC"/>
                </a:solidFill>
                <a:latin typeface="Segoe UI"/>
              </a:defRPr>
            </a:pPr>
            <a:r>
              <a:t>[Member Name]</a:t>
            </a:r>
          </a:p>
          <a:p>
            <a:pPr>
              <a:defRPr sz="1000">
                <a:solidFill>
                  <a:srgbClr val="94A3B8"/>
                </a:solidFill>
                <a:latin typeface="Segoe UI"/>
              </a:defRPr>
            </a:pPr>
            <a:r>
              <a:t>College:</a:t>
            </a:r>
          </a:p>
          <a:p>
            <a:pPr>
              <a:spcAft>
                <a:spcPts val="1400"/>
              </a:spcAft>
              <a:defRPr sz="1200" b="1">
                <a:solidFill>
                  <a:srgbClr val="F8FAFC"/>
                </a:solidFill>
                <a:latin typeface="Segoe UI"/>
              </a:defRPr>
            </a:pPr>
            <a:r>
              <a:t>[College Name]</a:t>
            </a:r>
          </a:p>
          <a:p>
            <a:pPr>
              <a:defRPr sz="1000">
                <a:solidFill>
                  <a:srgbClr val="94A3B8"/>
                </a:solidFill>
                <a:latin typeface="Segoe UI"/>
              </a:defRPr>
            </a:pPr>
            <a:r>
              <a:t>LinkedIn:</a:t>
            </a:r>
          </a:p>
          <a:p>
            <a:pPr>
              <a:defRPr sz="1100" u="sng">
                <a:solidFill>
                  <a:srgbClr val="06B6D4"/>
                </a:solidFill>
                <a:latin typeface="Segoe UI"/>
              </a:defRPr>
            </a:pPr>
            <a:r>
              <a:t>[LinkedIn link]</a:t>
            </a:r>
          </a:p>
        </p:txBody>
      </p:sp>
      <p:sp>
        <p:nvSpPr>
          <p:cNvPr id="8" name="Rounded Rectangle 7"/>
          <p:cNvSpPr/>
          <p:nvPr/>
        </p:nvSpPr>
        <p:spPr>
          <a:xfrm>
            <a:off x="8686800" y="1645920"/>
            <a:ext cx="2468880" cy="411480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800"/>
              </a:spcAft>
              <a:defRPr sz="1100" b="1">
                <a:solidFill>
                  <a:srgbClr val="6366F1"/>
                </a:solidFill>
                <a:latin typeface="Consolas"/>
              </a:defRPr>
            </a:pPr>
            <a:r>
              <a:t>DEVELOPER 3</a:t>
            </a:r>
          </a:p>
          <a:p>
            <a:pPr>
              <a:spcAft>
                <a:spcPts val="1400"/>
              </a:spcAft>
              <a:defRPr sz="1800" b="1">
                <a:solidFill>
                  <a:srgbClr val="F8FAFC"/>
                </a:solidFill>
                <a:latin typeface="Segoe UI"/>
              </a:defRPr>
            </a:pPr>
            <a:r>
              <a:t>[Member Name]</a:t>
            </a:r>
          </a:p>
          <a:p>
            <a:pPr>
              <a:defRPr sz="1000">
                <a:solidFill>
                  <a:srgbClr val="94A3B8"/>
                </a:solidFill>
                <a:latin typeface="Segoe UI"/>
              </a:defRPr>
            </a:pPr>
            <a:r>
              <a:t>College:</a:t>
            </a:r>
          </a:p>
          <a:p>
            <a:pPr>
              <a:spcAft>
                <a:spcPts val="1400"/>
              </a:spcAft>
              <a:defRPr sz="1200" b="1">
                <a:solidFill>
                  <a:srgbClr val="F8FAFC"/>
                </a:solidFill>
                <a:latin typeface="Segoe UI"/>
              </a:defRPr>
            </a:pPr>
            <a:r>
              <a:t>[College Name]</a:t>
            </a:r>
          </a:p>
          <a:p>
            <a:pPr>
              <a:defRPr sz="1000">
                <a:solidFill>
                  <a:srgbClr val="94A3B8"/>
                </a:solidFill>
                <a:latin typeface="Segoe UI"/>
              </a:defRPr>
            </a:pPr>
            <a:r>
              <a:t>LinkedIn:</a:t>
            </a:r>
          </a:p>
          <a:p>
            <a:pPr>
              <a:defRPr sz="1100" u="sng">
                <a:solidFill>
                  <a:srgbClr val="06B6D4"/>
                </a:solidFill>
                <a:latin typeface="Segoe UI"/>
              </a:defRPr>
            </a:pPr>
            <a:r>
              <a:t>[LinkedIn link]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latin typeface="Consolas"/>
              </a:defRPr>
            </a:pPr>
            <a:r>
              <a:t>CORE METHODOLOGY</a:t>
            </a:r>
          </a:p>
        </p:txBody>
      </p:sp>
      <p:sp>
        <p:nvSpPr>
          <p:cNvPr id="4" name="TextBox 3"/>
          <p:cNvSpPr txBox="1"/>
          <p:nvPr/>
        </p:nvSpPr>
        <p:spPr>
          <a:xfrm>
            <a:off x="731520" y="594360"/>
            <a:ext cx="10698480" cy="731520"/>
          </a:xfrm>
          <a:prstGeom prst="rect">
            <a:avLst/>
          </a:prstGeom>
          <a:noFill/>
        </p:spPr>
        <p:txBody>
          <a:bodyPr wrap="square">
            <a:spAutoFit/>
          </a:bodyPr>
          <a:lstStyle/>
          <a:p>
            <a:pPr>
              <a:defRPr sz="2800" b="1">
                <a:solidFill>
                  <a:srgbClr val="F8FAFC"/>
                </a:solidFill>
                <a:latin typeface="Segoe UI"/>
              </a:defRPr>
            </a:pPr>
            <a:r>
              <a:t>Unified Agent Orchestrator Concept</a:t>
            </a:r>
          </a:p>
        </p:txBody>
      </p:sp>
      <p:sp>
        <p:nvSpPr>
          <p:cNvPr id="5" name="Rounded Rectangle 4"/>
          <p:cNvSpPr/>
          <p:nvPr/>
        </p:nvSpPr>
        <p:spPr>
          <a:xfrm>
            <a:off x="731520" y="1645920"/>
            <a:ext cx="5120640" cy="438912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1300" b="1">
                <a:solidFill>
                  <a:srgbClr val="06B6D4"/>
                </a:solidFill>
                <a:latin typeface="Consolas"/>
              </a:defRPr>
            </a:pPr>
            <a:r>
              <a:t>THE CONCEPT</a:t>
            </a:r>
          </a:p>
          <a:p>
            <a:pPr>
              <a:spcAft>
                <a:spcPts val="1400"/>
              </a:spcAft>
              <a:defRPr sz="1800" b="1">
                <a:solidFill>
                  <a:srgbClr val="F8FAFC"/>
                </a:solidFill>
                <a:latin typeface="Segoe UI"/>
              </a:defRPr>
            </a:pPr>
            <a:r>
              <a:t>AE-03 is a provider-abstracted multi-agent orchestration console designed to bridge the trust gap in AI autonomy.</a:t>
            </a:r>
          </a:p>
          <a:p>
            <a:pPr>
              <a:lnSpc>
                <a:spcPct val="130000"/>
              </a:lnSpc>
              <a:defRPr sz="1350">
                <a:solidFill>
                  <a:srgbClr val="94A3B8"/>
                </a:solidFill>
                <a:latin typeface="Segoe UI"/>
              </a:defRPr>
            </a:pPr>
            <a:r>
              <a:t>Users input goals in plain language. The engine parses them, outputs structured execution flows (nodes and edges), and executes them. Every data handoff is validated against JSON schemas at the message bus, preventing code corruption or injection escapes.</a:t>
            </a:r>
          </a:p>
        </p:txBody>
      </p:sp>
      <p:sp>
        <p:nvSpPr>
          <p:cNvPr id="6" name="Rounded Rectangle 5"/>
          <p:cNvSpPr/>
          <p:nvPr/>
        </p:nvSpPr>
        <p:spPr>
          <a:xfrm>
            <a:off x="6217920" y="1645920"/>
            <a:ext cx="5212080" cy="137160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00" b="1">
                <a:solidFill>
                  <a:srgbClr val="6366F1"/>
                </a:solidFill>
                <a:latin typeface="Consolas"/>
              </a:defRPr>
            </a:pPr>
            <a:r>
              <a:t>01 | GOAL COMPILER</a:t>
            </a:r>
          </a:p>
          <a:p>
            <a:pPr>
              <a:lnSpc>
                <a:spcPct val="120000"/>
              </a:lnSpc>
              <a:defRPr sz="1150">
                <a:solidFill>
                  <a:srgbClr val="94A3B8"/>
                </a:solidFill>
                <a:latin typeface="Segoe UI"/>
              </a:defRPr>
            </a:pPr>
            <a:r>
              <a:t>Translates natural language text goals into human-approvable execution graph schema structures.</a:t>
            </a:r>
          </a:p>
        </p:txBody>
      </p:sp>
      <p:sp>
        <p:nvSpPr>
          <p:cNvPr id="7" name="Rounded Rectangle 6"/>
          <p:cNvSpPr/>
          <p:nvPr/>
        </p:nvSpPr>
        <p:spPr>
          <a:xfrm>
            <a:off x="6217920" y="3154680"/>
            <a:ext cx="5212080" cy="137160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00" b="1">
                <a:solidFill>
                  <a:srgbClr val="6366F1"/>
                </a:solidFill>
                <a:latin typeface="Consolas"/>
              </a:defRPr>
            </a:pPr>
            <a:r>
              <a:t>02 | DETERMINISTIC ENGINE</a:t>
            </a:r>
          </a:p>
          <a:p>
            <a:pPr>
              <a:lnSpc>
                <a:spcPct val="120000"/>
              </a:lnSpc>
              <a:defRPr sz="1150">
                <a:solidFill>
                  <a:srgbClr val="94A3B8"/>
                </a:solidFill>
                <a:latin typeface="Segoe UI"/>
              </a:defRPr>
            </a:pPr>
            <a:r>
              <a:t>Manages sequential, parallel, retry loops, and human-in-the-loop review checks with SQLite states.</a:t>
            </a:r>
          </a:p>
        </p:txBody>
      </p:sp>
      <p:sp>
        <p:nvSpPr>
          <p:cNvPr id="8" name="Rounded Rectangle 7"/>
          <p:cNvSpPr/>
          <p:nvPr/>
        </p:nvSpPr>
        <p:spPr>
          <a:xfrm>
            <a:off x="6217920" y="4663440"/>
            <a:ext cx="5212080" cy="137160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00" b="1">
                <a:solidFill>
                  <a:srgbClr val="6366F1"/>
                </a:solidFill>
                <a:latin typeface="Consolas"/>
              </a:defRPr>
            </a:pPr>
            <a:r>
              <a:t>03 | SECURITY SANDBOX</a:t>
            </a:r>
          </a:p>
          <a:p>
            <a:pPr>
              <a:lnSpc>
                <a:spcPct val="120000"/>
              </a:lnSpc>
              <a:defRPr sz="1150">
                <a:solidFill>
                  <a:srgbClr val="94A3B8"/>
                </a:solidFill>
                <a:latin typeface="Segoe UI"/>
              </a:defRPr>
            </a:pPr>
            <a:r>
              <a:t>Isolates keys, filters agent tools by scopes, and blocks adversarial overrides at the message bus.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latin typeface="Consolas"/>
              </a:defRPr>
            </a:pPr>
            <a:r>
              <a:t>MARKET ADVANTAGE</a:t>
            </a:r>
          </a:p>
        </p:txBody>
      </p:sp>
      <p:sp>
        <p:nvSpPr>
          <p:cNvPr id="4" name="TextBox 3"/>
          <p:cNvSpPr txBox="1"/>
          <p:nvPr/>
        </p:nvSpPr>
        <p:spPr>
          <a:xfrm>
            <a:off x="731520" y="594360"/>
            <a:ext cx="10698480" cy="731520"/>
          </a:xfrm>
          <a:prstGeom prst="rect">
            <a:avLst/>
          </a:prstGeom>
          <a:noFill/>
        </p:spPr>
        <p:txBody>
          <a:bodyPr wrap="square">
            <a:spAutoFit/>
          </a:bodyPr>
          <a:lstStyle/>
          <a:p>
            <a:pPr>
              <a:defRPr sz="2800" b="1">
                <a:solidFill>
                  <a:srgbClr val="F8FAFC"/>
                </a:solidFill>
                <a:latin typeface="Segoe UI"/>
              </a:defRPr>
            </a:pPr>
            <a:r>
              <a:t>Security-by-Design &amp; Unique Value</a:t>
            </a:r>
          </a:p>
        </p:txBody>
      </p:sp>
      <p:sp>
        <p:nvSpPr>
          <p:cNvPr id="5" name="Rounded Rectangle 4"/>
          <p:cNvSpPr/>
          <p:nvPr/>
        </p:nvSpPr>
        <p:spPr>
          <a:xfrm>
            <a:off x="731520" y="1645920"/>
            <a:ext cx="5120640" cy="438912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1400" b="1">
                <a:solidFill>
                  <a:srgbClr val="6366F1"/>
                </a:solidFill>
                <a:latin typeface="Consolas"/>
              </a:defRPr>
            </a:pPr>
            <a:r>
              <a:t>HOW WE SOLVE AUTONOMY RISKS</a:t>
            </a:r>
          </a:p>
          <a:p>
            <a:pPr>
              <a:lnSpc>
                <a:spcPct val="120000"/>
              </a:lnSpc>
              <a:spcAft>
                <a:spcPts val="1000"/>
              </a:spcAft>
              <a:defRPr sz="1200">
                <a:solidFill>
                  <a:srgbClr val="94A3B8"/>
                </a:solidFill>
                <a:latin typeface="Segoe UI"/>
              </a:defRPr>
            </a:pPr>
            <a:r>
              <a:t>▸ Typed Handoff Contracts: Stops data format drift by enforcing strict JSON input/output schemas on every agent connection.</a:t>
            </a:r>
          </a:p>
          <a:p>
            <a:pPr>
              <a:lnSpc>
                <a:spcPct val="120000"/>
              </a:lnSpc>
              <a:spcAft>
                <a:spcPts val="1000"/>
              </a:spcAft>
              <a:defRPr sz="1200">
                <a:solidFill>
                  <a:srgbClr val="94A3B8"/>
                </a:solidFill>
                <a:latin typeface="Segoe UI"/>
              </a:defRPr>
            </a:pPr>
            <a:r>
              <a:t>▸ Tool Allowlisting: Intercepts and blocks unauthorized tool calls (e.g. system CLI escapes) at the message bus layer.</a:t>
            </a:r>
          </a:p>
          <a:p>
            <a:pPr>
              <a:lnSpc>
                <a:spcPct val="120000"/>
              </a:lnSpc>
              <a:spcAft>
                <a:spcPts val="1000"/>
              </a:spcAft>
              <a:defRPr sz="1200">
                <a:solidFill>
                  <a:srgbClr val="94A3B8"/>
                </a:solidFill>
                <a:latin typeface="Segoe UI"/>
              </a:defRPr>
            </a:pPr>
            <a:r>
              <a:t>▸ Token Cost Ledger: Enforces pre-declared budget limits on agents, preventing infinite run loops and cost overruns.</a:t>
            </a:r>
          </a:p>
          <a:p>
            <a:pPr>
              <a:lnSpc>
                <a:spcPct val="120000"/>
              </a:lnSpc>
              <a:spcAft>
                <a:spcPts val="1000"/>
              </a:spcAft>
              <a:defRPr sz="1200">
                <a:solidFill>
                  <a:srgbClr val="94A3B8"/>
                </a:solidFill>
                <a:latin typeface="Segoe UI"/>
              </a:defRPr>
            </a:pPr>
            <a:r>
              <a:t>▸ Sandboxed Directory: Boundaries file reads/writes strictly within a declared local agent workspace folder.</a:t>
            </a:r>
          </a:p>
        </p:txBody>
      </p:sp>
      <p:sp>
        <p:nvSpPr>
          <p:cNvPr id="6" name="Rounded Rectangle 5"/>
          <p:cNvSpPr/>
          <p:nvPr/>
        </p:nvSpPr>
        <p:spPr>
          <a:xfrm>
            <a:off x="6217920" y="1645920"/>
            <a:ext cx="5212080" cy="4389120"/>
          </a:xfrm>
          <a:prstGeom prst="roundRect">
            <a:avLst/>
          </a:prstGeom>
          <a:solidFill>
            <a:srgbClr val="111827"/>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1400" b="1">
                <a:solidFill>
                  <a:srgbClr val="06B6D4"/>
                </a:solidFill>
                <a:latin typeface="Consolas"/>
              </a:defRPr>
            </a:pPr>
            <a:r>
              <a:t>THE UNIQUE SELLING PROPOSITION (USP)</a:t>
            </a:r>
          </a:p>
          <a:p>
            <a:pPr>
              <a:lnSpc>
                <a:spcPct val="120000"/>
              </a:lnSpc>
              <a:spcAft>
                <a:spcPts val="1000"/>
              </a:spcAft>
              <a:defRPr sz="1200">
                <a:solidFill>
                  <a:srgbClr val="F8FAFC"/>
                </a:solidFill>
                <a:latin typeface="Segoe UI"/>
              </a:defRPr>
            </a:pPr>
            <a:r>
              <a:t>◆ Goal-to-Graph Propose &amp; Lock: Compiles user intent into a visual plan that a human must review and approve before any execution.</a:t>
            </a:r>
          </a:p>
          <a:p>
            <a:pPr>
              <a:lnSpc>
                <a:spcPct val="120000"/>
              </a:lnSpc>
              <a:spcAft>
                <a:spcPts val="1000"/>
              </a:spcAft>
              <a:defRPr sz="1200">
                <a:solidFill>
                  <a:srgbClr val="F8FAFC"/>
                </a:solidFill>
                <a:latin typeface="Segoe UI"/>
              </a:defRPr>
            </a:pPr>
            <a:r>
              <a:t>◆ Deterministic Replay &amp; Stats: Saves execution events to SQLite, allowing logs to be replayed to check latency and costs.</a:t>
            </a:r>
          </a:p>
          <a:p>
            <a:pPr>
              <a:lnSpc>
                <a:spcPct val="120000"/>
              </a:lnSpc>
              <a:spcAft>
                <a:spcPts val="1000"/>
              </a:spcAft>
              <a:defRPr sz="1200">
                <a:solidFill>
                  <a:srgbClr val="F8FAFC"/>
                </a:solidFill>
                <a:latin typeface="Segoe UI"/>
              </a:defRPr>
            </a:pPr>
            <a:r>
              <a:t>◆ Adversarial Interception Demo: Runs live tests showing the engine trapping and displaying out-of-scope command breaches.</a:t>
            </a:r>
          </a:p>
          <a:p>
            <a:pPr>
              <a:lnSpc>
                <a:spcPct val="120000"/>
              </a:lnSpc>
              <a:spcAft>
                <a:spcPts val="1000"/>
              </a:spcAft>
              <a:defRPr sz="1200">
                <a:solidFill>
                  <a:srgbClr val="F8FAFC"/>
                </a:solidFill>
                <a:latin typeface="Segoe UI"/>
              </a:defRPr>
            </a:pPr>
            <a:r>
              <a:t>◆ Marginal Agent Value Evaluation: Evaluates single vs. multi-agent configurations, reporting when extra agents are not worth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latin typeface="Consolas"/>
              </a:defRPr>
            </a:pPr>
            <a:r>
              <a:t>ENGINE DATAFLOW</a:t>
            </a:r>
          </a:p>
        </p:txBody>
      </p:sp>
      <p:sp>
        <p:nvSpPr>
          <p:cNvPr id="4" name="TextBox 3"/>
          <p:cNvSpPr txBox="1"/>
          <p:nvPr/>
        </p:nvSpPr>
        <p:spPr>
          <a:xfrm>
            <a:off x="731520" y="594360"/>
            <a:ext cx="10698480" cy="731520"/>
          </a:xfrm>
          <a:prstGeom prst="rect">
            <a:avLst/>
          </a:prstGeom>
          <a:noFill/>
        </p:spPr>
        <p:txBody>
          <a:bodyPr wrap="square">
            <a:spAutoFit/>
          </a:bodyPr>
          <a:lstStyle/>
          <a:p>
            <a:pPr>
              <a:defRPr sz="2800" b="1">
                <a:solidFill>
                  <a:srgbClr val="F8FAFC"/>
                </a:solidFill>
                <a:latin typeface="Segoe UI"/>
              </a:defRPr>
            </a:pPr>
            <a:r>
              <a:t>Deterministic Control Pipeline Flow</a:t>
            </a:r>
          </a:p>
        </p:txBody>
      </p:sp>
      <p:sp>
        <p:nvSpPr>
          <p:cNvPr id="5" name="Rounded Rectangle 4"/>
          <p:cNvSpPr/>
          <p:nvPr/>
        </p:nvSpPr>
        <p:spPr>
          <a:xfrm>
            <a:off x="731520" y="2011680"/>
            <a:ext cx="1371600" cy="292608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050" b="1">
                <a:solidFill>
                  <a:srgbClr val="06B6D4"/>
                </a:solidFill>
                <a:latin typeface="Consolas"/>
              </a:defRPr>
            </a:pPr>
            <a:r>
              <a:t>STEP 01</a:t>
            </a:r>
          </a:p>
          <a:p>
            <a:pPr>
              <a:spcAft>
                <a:spcPts val="800"/>
              </a:spcAft>
              <a:defRPr sz="1300" b="1">
                <a:solidFill>
                  <a:srgbClr val="F8FAFC"/>
                </a:solidFill>
                <a:latin typeface="Segoe UI"/>
              </a:defRPr>
            </a:pPr>
            <a:r>
              <a:t>Goal Input</a:t>
            </a:r>
          </a:p>
          <a:p>
            <a:pPr>
              <a:lnSpc>
                <a:spcPct val="120000"/>
              </a:lnSpc>
              <a:defRPr sz="1050">
                <a:solidFill>
                  <a:srgbClr val="94A3B8"/>
                </a:solidFill>
                <a:latin typeface="Segoe UI"/>
              </a:defRPr>
            </a:pPr>
            <a:r>
              <a:t>User states goal in natural language</a:t>
            </a:r>
          </a:p>
        </p:txBody>
      </p:sp>
      <p:sp>
        <p:nvSpPr>
          <p:cNvPr id="6" name="TextBox 5"/>
          <p:cNvSpPr txBox="1"/>
          <p:nvPr/>
        </p:nvSpPr>
        <p:spPr>
          <a:xfrm>
            <a:off x="2103120" y="3108960"/>
            <a:ext cx="146304" cy="731520"/>
          </a:xfrm>
          <a:prstGeom prst="rect">
            <a:avLst/>
          </a:prstGeom>
          <a:noFill/>
        </p:spPr>
        <p:txBody>
          <a:bodyPr wrap="none">
            <a:spAutoFit/>
          </a:bodyPr>
          <a:lstStyle/>
          <a:p>
            <a:pPr algn="ctr">
              <a:defRPr sz="1800" b="1">
                <a:solidFill>
                  <a:srgbClr val="06B6D4"/>
                </a:solidFill>
                <a:latin typeface="Segoe UI"/>
              </a:defRPr>
            </a:pPr>
            <a:r>
              <a:t>→</a:t>
            </a:r>
          </a:p>
        </p:txBody>
      </p:sp>
      <p:sp>
        <p:nvSpPr>
          <p:cNvPr id="7" name="Rounded Rectangle 6"/>
          <p:cNvSpPr/>
          <p:nvPr/>
        </p:nvSpPr>
        <p:spPr>
          <a:xfrm>
            <a:off x="2249424" y="2011680"/>
            <a:ext cx="1371600" cy="292608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050" b="1">
                <a:solidFill>
                  <a:srgbClr val="6366F1"/>
                </a:solidFill>
                <a:latin typeface="Consolas"/>
              </a:defRPr>
            </a:pPr>
            <a:r>
              <a:t>STEP 02</a:t>
            </a:r>
          </a:p>
          <a:p>
            <a:pPr>
              <a:spcAft>
                <a:spcPts val="800"/>
              </a:spcAft>
              <a:defRPr sz="1300" b="1">
                <a:solidFill>
                  <a:srgbClr val="F8FAFC"/>
                </a:solidFill>
                <a:latin typeface="Segoe UI"/>
              </a:defRPr>
            </a:pPr>
            <a:r>
              <a:t>Compile Plan</a:t>
            </a:r>
          </a:p>
          <a:p>
            <a:pPr>
              <a:lnSpc>
                <a:spcPct val="120000"/>
              </a:lnSpc>
              <a:defRPr sz="1050">
                <a:solidFill>
                  <a:srgbClr val="94A3B8"/>
                </a:solidFill>
                <a:latin typeface="Segoe UI"/>
              </a:defRPr>
            </a:pPr>
            <a:r>
              <a:t>Engine translates intent into JSON nodes/edges</a:t>
            </a:r>
          </a:p>
        </p:txBody>
      </p:sp>
      <p:sp>
        <p:nvSpPr>
          <p:cNvPr id="8" name="TextBox 7"/>
          <p:cNvSpPr txBox="1"/>
          <p:nvPr/>
        </p:nvSpPr>
        <p:spPr>
          <a:xfrm>
            <a:off x="3621024" y="3108960"/>
            <a:ext cx="146304" cy="731520"/>
          </a:xfrm>
          <a:prstGeom prst="rect">
            <a:avLst/>
          </a:prstGeom>
          <a:noFill/>
        </p:spPr>
        <p:txBody>
          <a:bodyPr wrap="none">
            <a:spAutoFit/>
          </a:bodyPr>
          <a:lstStyle/>
          <a:p>
            <a:pPr algn="ctr">
              <a:defRPr sz="1800" b="1">
                <a:solidFill>
                  <a:srgbClr val="06B6D4"/>
                </a:solidFill>
                <a:latin typeface="Segoe UI"/>
              </a:defRPr>
            </a:pPr>
            <a:r>
              <a:t>→</a:t>
            </a:r>
          </a:p>
        </p:txBody>
      </p:sp>
      <p:sp>
        <p:nvSpPr>
          <p:cNvPr id="9" name="Rounded Rectangle 8"/>
          <p:cNvSpPr/>
          <p:nvPr/>
        </p:nvSpPr>
        <p:spPr>
          <a:xfrm>
            <a:off x="3767328" y="2011680"/>
            <a:ext cx="1371600" cy="2926080"/>
          </a:xfrm>
          <a:prstGeom prst="roundRect">
            <a:avLst/>
          </a:prstGeom>
          <a:solidFill>
            <a:srgbClr val="111827"/>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050" b="1">
                <a:solidFill>
                  <a:srgbClr val="06B6D4"/>
                </a:solidFill>
                <a:latin typeface="Consolas"/>
              </a:defRPr>
            </a:pPr>
            <a:r>
              <a:t>STEP 03</a:t>
            </a:r>
          </a:p>
          <a:p>
            <a:pPr>
              <a:spcAft>
                <a:spcPts val="800"/>
              </a:spcAft>
              <a:defRPr sz="1300" b="1">
                <a:solidFill>
                  <a:srgbClr val="F8FAFC"/>
                </a:solidFill>
                <a:latin typeface="Segoe UI"/>
              </a:defRPr>
            </a:pPr>
            <a:r>
              <a:t>Approve Gate</a:t>
            </a:r>
          </a:p>
          <a:p>
            <a:pPr>
              <a:lnSpc>
                <a:spcPct val="120000"/>
              </a:lnSpc>
              <a:defRPr sz="1050">
                <a:solidFill>
                  <a:srgbClr val="94A3B8"/>
                </a:solidFill>
                <a:latin typeface="Segoe UI"/>
              </a:defRPr>
            </a:pPr>
            <a:r>
              <a:t>Human audits budgets, permissions, and locks schema</a:t>
            </a:r>
          </a:p>
        </p:txBody>
      </p:sp>
      <p:sp>
        <p:nvSpPr>
          <p:cNvPr id="10" name="TextBox 9"/>
          <p:cNvSpPr txBox="1"/>
          <p:nvPr/>
        </p:nvSpPr>
        <p:spPr>
          <a:xfrm>
            <a:off x="5138928" y="3108960"/>
            <a:ext cx="146304" cy="731520"/>
          </a:xfrm>
          <a:prstGeom prst="rect">
            <a:avLst/>
          </a:prstGeom>
          <a:noFill/>
        </p:spPr>
        <p:txBody>
          <a:bodyPr wrap="none">
            <a:spAutoFit/>
          </a:bodyPr>
          <a:lstStyle/>
          <a:p>
            <a:pPr algn="ctr">
              <a:defRPr sz="1800" b="1">
                <a:solidFill>
                  <a:srgbClr val="06B6D4"/>
                </a:solidFill>
                <a:latin typeface="Segoe UI"/>
              </a:defRPr>
            </a:pPr>
            <a:r>
              <a:t>→</a:t>
            </a:r>
          </a:p>
        </p:txBody>
      </p:sp>
      <p:sp>
        <p:nvSpPr>
          <p:cNvPr id="11" name="Rounded Rectangle 10"/>
          <p:cNvSpPr/>
          <p:nvPr/>
        </p:nvSpPr>
        <p:spPr>
          <a:xfrm>
            <a:off x="5285232" y="2011680"/>
            <a:ext cx="1371600" cy="292608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050" b="1">
                <a:solidFill>
                  <a:srgbClr val="6366F1"/>
                </a:solidFill>
                <a:latin typeface="Consolas"/>
              </a:defRPr>
            </a:pPr>
            <a:r>
              <a:t>STEP 04</a:t>
            </a:r>
          </a:p>
          <a:p>
            <a:pPr>
              <a:spcAft>
                <a:spcPts val="800"/>
              </a:spcAft>
              <a:defRPr sz="1300" b="1">
                <a:solidFill>
                  <a:srgbClr val="F8FAFC"/>
                </a:solidFill>
                <a:latin typeface="Segoe UI"/>
              </a:defRPr>
            </a:pPr>
            <a:r>
              <a:t>Step Dispatch</a:t>
            </a:r>
          </a:p>
          <a:p>
            <a:pPr>
              <a:lnSpc>
                <a:spcPct val="120000"/>
              </a:lnSpc>
              <a:defRPr sz="1050">
                <a:solidFill>
                  <a:srgbClr val="94A3B8"/>
                </a:solidFill>
                <a:latin typeface="Segoe UI"/>
              </a:defRPr>
            </a:pPr>
            <a:r>
              <a:t>Engine schedules parallel/sequential agent tasks</a:t>
            </a:r>
          </a:p>
        </p:txBody>
      </p:sp>
      <p:sp>
        <p:nvSpPr>
          <p:cNvPr id="12" name="TextBox 11"/>
          <p:cNvSpPr txBox="1"/>
          <p:nvPr/>
        </p:nvSpPr>
        <p:spPr>
          <a:xfrm>
            <a:off x="6656832" y="3108960"/>
            <a:ext cx="146304" cy="731520"/>
          </a:xfrm>
          <a:prstGeom prst="rect">
            <a:avLst/>
          </a:prstGeom>
          <a:noFill/>
        </p:spPr>
        <p:txBody>
          <a:bodyPr wrap="none">
            <a:spAutoFit/>
          </a:bodyPr>
          <a:lstStyle/>
          <a:p>
            <a:pPr algn="ctr">
              <a:defRPr sz="1800" b="1">
                <a:solidFill>
                  <a:srgbClr val="06B6D4"/>
                </a:solidFill>
                <a:latin typeface="Segoe UI"/>
              </a:defRPr>
            </a:pPr>
            <a:r>
              <a:t>→</a:t>
            </a:r>
          </a:p>
        </p:txBody>
      </p:sp>
      <p:sp>
        <p:nvSpPr>
          <p:cNvPr id="13" name="Rounded Rectangle 12"/>
          <p:cNvSpPr/>
          <p:nvPr/>
        </p:nvSpPr>
        <p:spPr>
          <a:xfrm>
            <a:off x="6803136" y="2011680"/>
            <a:ext cx="1371600" cy="2926080"/>
          </a:xfrm>
          <a:prstGeom prst="roundRect">
            <a:avLst/>
          </a:prstGeom>
          <a:solidFill>
            <a:srgbClr val="111827"/>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050" b="1">
                <a:solidFill>
                  <a:srgbClr val="06B6D4"/>
                </a:solidFill>
                <a:latin typeface="Consolas"/>
              </a:defRPr>
            </a:pPr>
            <a:r>
              <a:t>STEP 05</a:t>
            </a:r>
          </a:p>
          <a:p>
            <a:pPr>
              <a:spcAft>
                <a:spcPts val="800"/>
              </a:spcAft>
              <a:defRPr sz="1300" b="1">
                <a:solidFill>
                  <a:srgbClr val="F8FAFC"/>
                </a:solidFill>
                <a:latin typeface="Segoe UI"/>
              </a:defRPr>
            </a:pPr>
            <a:r>
              <a:t>Safety Verify</a:t>
            </a:r>
          </a:p>
          <a:p>
            <a:pPr>
              <a:lnSpc>
                <a:spcPct val="120000"/>
              </a:lnSpc>
              <a:defRPr sz="1050">
                <a:solidFill>
                  <a:srgbClr val="94A3B8"/>
                </a:solidFill>
                <a:latin typeface="Segoe UI"/>
              </a:defRPr>
            </a:pPr>
            <a:r>
              <a:t>Secret broker masks keys; tool allowlist checked</a:t>
            </a:r>
          </a:p>
        </p:txBody>
      </p:sp>
      <p:sp>
        <p:nvSpPr>
          <p:cNvPr id="14" name="TextBox 13"/>
          <p:cNvSpPr txBox="1"/>
          <p:nvPr/>
        </p:nvSpPr>
        <p:spPr>
          <a:xfrm>
            <a:off x="8174736" y="3108960"/>
            <a:ext cx="146304" cy="731520"/>
          </a:xfrm>
          <a:prstGeom prst="rect">
            <a:avLst/>
          </a:prstGeom>
          <a:noFill/>
        </p:spPr>
        <p:txBody>
          <a:bodyPr wrap="none">
            <a:spAutoFit/>
          </a:bodyPr>
          <a:lstStyle/>
          <a:p>
            <a:pPr algn="ctr">
              <a:defRPr sz="1800" b="1">
                <a:solidFill>
                  <a:srgbClr val="06B6D4"/>
                </a:solidFill>
                <a:latin typeface="Segoe UI"/>
              </a:defRPr>
            </a:pPr>
            <a:r>
              <a:t>→</a:t>
            </a:r>
          </a:p>
        </p:txBody>
      </p:sp>
      <p:sp>
        <p:nvSpPr>
          <p:cNvPr id="15" name="Rounded Rectangle 14"/>
          <p:cNvSpPr/>
          <p:nvPr/>
        </p:nvSpPr>
        <p:spPr>
          <a:xfrm>
            <a:off x="8321040" y="2011680"/>
            <a:ext cx="1371600" cy="2926080"/>
          </a:xfrm>
          <a:prstGeom prst="roundRect">
            <a:avLst/>
          </a:prstGeom>
          <a:solidFill>
            <a:srgbClr val="111827"/>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050" b="1">
                <a:solidFill>
                  <a:srgbClr val="6366F1"/>
                </a:solidFill>
                <a:latin typeface="Consolas"/>
              </a:defRPr>
            </a:pPr>
            <a:r>
              <a:t>STEP 06</a:t>
            </a:r>
          </a:p>
          <a:p>
            <a:pPr>
              <a:spcAft>
                <a:spcPts val="800"/>
              </a:spcAft>
              <a:defRPr sz="1300" b="1">
                <a:solidFill>
                  <a:srgbClr val="F8FAFC"/>
                </a:solidFill>
                <a:latin typeface="Segoe UI"/>
              </a:defRPr>
            </a:pPr>
            <a:r>
              <a:t>Handoff Check</a:t>
            </a:r>
          </a:p>
          <a:p>
            <a:pPr>
              <a:lnSpc>
                <a:spcPct val="120000"/>
              </a:lnSpc>
              <a:defRPr sz="1050">
                <a:solidFill>
                  <a:srgbClr val="94A3B8"/>
                </a:solidFill>
                <a:latin typeface="Segoe UI"/>
              </a:defRPr>
            </a:pPr>
            <a:r>
              <a:t>Data output validated against target input schema</a:t>
            </a:r>
          </a:p>
        </p:txBody>
      </p:sp>
      <p:sp>
        <p:nvSpPr>
          <p:cNvPr id="16" name="TextBox 15"/>
          <p:cNvSpPr txBox="1"/>
          <p:nvPr/>
        </p:nvSpPr>
        <p:spPr>
          <a:xfrm>
            <a:off x="9692640" y="3108960"/>
            <a:ext cx="146304" cy="731520"/>
          </a:xfrm>
          <a:prstGeom prst="rect">
            <a:avLst/>
          </a:prstGeom>
          <a:noFill/>
        </p:spPr>
        <p:txBody>
          <a:bodyPr wrap="none">
            <a:spAutoFit/>
          </a:bodyPr>
          <a:lstStyle/>
          <a:p>
            <a:pPr algn="ctr">
              <a:defRPr sz="1800" b="1">
                <a:solidFill>
                  <a:srgbClr val="06B6D4"/>
                </a:solidFill>
                <a:latin typeface="Segoe UI"/>
              </a:defRPr>
            </a:pPr>
            <a:r>
              <a:t>→</a:t>
            </a:r>
          </a:p>
        </p:txBody>
      </p:sp>
      <p:sp>
        <p:nvSpPr>
          <p:cNvPr id="17" name="Rounded Rectangle 16"/>
          <p:cNvSpPr/>
          <p:nvPr/>
        </p:nvSpPr>
        <p:spPr>
          <a:xfrm>
            <a:off x="9838944" y="2011680"/>
            <a:ext cx="1371600" cy="292608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050" b="1">
                <a:solidFill>
                  <a:srgbClr val="06B6D4"/>
                </a:solidFill>
                <a:latin typeface="Consolas"/>
              </a:defRPr>
            </a:pPr>
            <a:r>
              <a:t>STEP 07</a:t>
            </a:r>
          </a:p>
          <a:p>
            <a:pPr>
              <a:spcAft>
                <a:spcPts val="800"/>
              </a:spcAft>
              <a:defRPr sz="1300" b="1">
                <a:solidFill>
                  <a:srgbClr val="F8FAFC"/>
                </a:solidFill>
                <a:latin typeface="Segoe UI"/>
              </a:defRPr>
            </a:pPr>
            <a:r>
              <a:t>Audit / Log</a:t>
            </a:r>
          </a:p>
          <a:p>
            <a:pPr>
              <a:lnSpc>
                <a:spcPct val="120000"/>
              </a:lnSpc>
              <a:defRPr sz="1050">
                <a:solidFill>
                  <a:srgbClr val="94A3B8"/>
                </a:solidFill>
                <a:latin typeface="Segoe UI"/>
              </a:defRPr>
            </a:pPr>
            <a:r>
              <a:t>SQLite saves event traces and registers artifacts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latin typeface="Consolas"/>
              </a:defRPr>
            </a:pPr>
            <a:r>
              <a:t>DASHBOARD INTERFACE</a:t>
            </a:r>
          </a:p>
        </p:txBody>
      </p:sp>
      <p:sp>
        <p:nvSpPr>
          <p:cNvPr id="4" name="TextBox 3"/>
          <p:cNvSpPr txBox="1"/>
          <p:nvPr/>
        </p:nvSpPr>
        <p:spPr>
          <a:xfrm>
            <a:off x="731520" y="594360"/>
            <a:ext cx="10698480" cy="731520"/>
          </a:xfrm>
          <a:prstGeom prst="rect">
            <a:avLst/>
          </a:prstGeom>
          <a:noFill/>
        </p:spPr>
        <p:txBody>
          <a:bodyPr wrap="square">
            <a:spAutoFit/>
          </a:bodyPr>
          <a:lstStyle/>
          <a:p>
            <a:pPr>
              <a:defRPr sz="2800" b="1">
                <a:solidFill>
                  <a:srgbClr val="F8FAFC"/>
                </a:solidFill>
                <a:latin typeface="Segoe UI"/>
              </a:defRPr>
            </a:pPr>
            <a:r>
              <a:t>Control Console Wireframe Mockups</a:t>
            </a:r>
          </a:p>
        </p:txBody>
      </p:sp>
      <p:sp>
        <p:nvSpPr>
          <p:cNvPr id="5" name="Rounded Rectangle 4"/>
          <p:cNvSpPr/>
          <p:nvPr/>
        </p:nvSpPr>
        <p:spPr>
          <a:xfrm>
            <a:off x="731520" y="1645920"/>
            <a:ext cx="5120640" cy="438912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1300" b="1">
                <a:solidFill>
                  <a:srgbClr val="6366F1"/>
                </a:solidFill>
                <a:latin typeface="Consolas"/>
              </a:defRPr>
            </a:pPr>
            <a:r>
              <a:t>DESIGN AESTHETICS</a:t>
            </a:r>
          </a:p>
          <a:p>
            <a:pPr>
              <a:spcAft>
                <a:spcPts val="1400"/>
              </a:spcAft>
              <a:defRPr sz="1800" b="1">
                <a:solidFill>
                  <a:srgbClr val="F8FAFC"/>
                </a:solidFill>
                <a:latin typeface="Segoe UI"/>
              </a:defRPr>
            </a:pPr>
            <a:r>
              <a:t>Premium, information-dense cybernetic control room console theme.</a:t>
            </a:r>
          </a:p>
          <a:p>
            <a:pPr>
              <a:lnSpc>
                <a:spcPct val="130000"/>
              </a:lnSpc>
              <a:defRPr sz="1350">
                <a:solidFill>
                  <a:srgbClr val="94A3B8"/>
                </a:solidFill>
                <a:latin typeface="Segoe UI"/>
              </a:defRPr>
            </a:pPr>
            <a:r>
              <a:t>Using a deep slate-dark (#090d16) canvas with clean glow cards and neon borders indicating status (Green=Success, Amber=Retry, Red=Failure/Review, Purple=Blocked). The layout avoids unnecessary chatbot conversation bubbles and focuses on pipeline structure, cost metrics, and log events.</a:t>
            </a:r>
          </a:p>
        </p:txBody>
      </p:sp>
      <p:sp>
        <p:nvSpPr>
          <p:cNvPr id="6" name="Rounded Rectangle 5"/>
          <p:cNvSpPr/>
          <p:nvPr/>
        </p:nvSpPr>
        <p:spPr>
          <a:xfrm>
            <a:off x="6217920" y="1645920"/>
            <a:ext cx="5212080" cy="137160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00" b="1">
                <a:solidFill>
                  <a:srgbClr val="94A3B8"/>
                </a:solidFill>
                <a:latin typeface="Consolas"/>
              </a:defRPr>
            </a:pPr>
            <a:r>
              <a:t>01 | COMPILER &amp; APPROVAL</a:t>
            </a:r>
          </a:p>
          <a:p>
            <a:pPr>
              <a:lnSpc>
                <a:spcPct val="120000"/>
              </a:lnSpc>
              <a:defRPr sz="1150">
                <a:solidFill>
                  <a:srgbClr val="94A3B8"/>
                </a:solidFill>
                <a:latin typeface="Segoe UI"/>
              </a:defRPr>
            </a:pPr>
            <a:r>
              <a:t>Goal input, compiled node list, templates, budgets, and the Lock &amp; Approve gate button.</a:t>
            </a:r>
          </a:p>
        </p:txBody>
      </p:sp>
      <p:sp>
        <p:nvSpPr>
          <p:cNvPr id="7" name="Rounded Rectangle 6"/>
          <p:cNvSpPr/>
          <p:nvPr/>
        </p:nvSpPr>
        <p:spPr>
          <a:xfrm>
            <a:off x="6217920" y="3154680"/>
            <a:ext cx="5212080" cy="1371600"/>
          </a:xfrm>
          <a:prstGeom prst="roundRect">
            <a:avLst/>
          </a:prstGeom>
          <a:solidFill>
            <a:srgbClr val="111827"/>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00" b="1">
                <a:solidFill>
                  <a:srgbClr val="06B6D4"/>
                </a:solidFill>
                <a:latin typeface="Consolas"/>
              </a:defRPr>
            </a:pPr>
            <a:r>
              <a:t>02 | EXECUTION BOARD</a:t>
            </a:r>
          </a:p>
          <a:p>
            <a:pPr>
              <a:lnSpc>
                <a:spcPct val="120000"/>
              </a:lnSpc>
              <a:defRPr sz="1150">
                <a:solidFill>
                  <a:srgbClr val="94A3B8"/>
                </a:solidFill>
                <a:latin typeface="Segoe UI"/>
              </a:defRPr>
            </a:pPr>
            <a:r>
              <a:t>Visual SVG graph nodes, active status pulses, live token ledgers, events console, and review forms.</a:t>
            </a:r>
          </a:p>
        </p:txBody>
      </p:sp>
      <p:sp>
        <p:nvSpPr>
          <p:cNvPr id="8" name="Rounded Rectangle 7"/>
          <p:cNvSpPr/>
          <p:nvPr/>
        </p:nvSpPr>
        <p:spPr>
          <a:xfrm>
            <a:off x="6217920" y="4663440"/>
            <a:ext cx="5212080" cy="137160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200" b="1">
                <a:solidFill>
                  <a:srgbClr val="94A3B8"/>
                </a:solidFill>
                <a:latin typeface="Consolas"/>
              </a:defRPr>
            </a:pPr>
            <a:r>
              <a:t>03 | TRACE &amp; REPLAY CENTER</a:t>
            </a:r>
          </a:p>
          <a:p>
            <a:pPr>
              <a:lnSpc>
                <a:spcPct val="120000"/>
              </a:lnSpc>
              <a:defRPr sz="1150">
                <a:solidFill>
                  <a:srgbClr val="94A3B8"/>
                </a:solidFill>
                <a:latin typeface="Segoe UI"/>
              </a:defRPr>
            </a:pPr>
            <a:r>
              <a:t>Picker showing historical run runs, detailed logs side-by-side, and deterministic replay comparisons.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latin typeface="Consolas"/>
              </a:defRPr>
            </a:pPr>
            <a:r>
              <a:t>SYSTEM TOPOLOGY</a:t>
            </a:r>
          </a:p>
        </p:txBody>
      </p:sp>
      <p:sp>
        <p:nvSpPr>
          <p:cNvPr id="4" name="TextBox 3"/>
          <p:cNvSpPr txBox="1"/>
          <p:nvPr/>
        </p:nvSpPr>
        <p:spPr>
          <a:xfrm>
            <a:off x="731520" y="594360"/>
            <a:ext cx="10698480" cy="731520"/>
          </a:xfrm>
          <a:prstGeom prst="rect">
            <a:avLst/>
          </a:prstGeom>
          <a:noFill/>
        </p:spPr>
        <p:txBody>
          <a:bodyPr wrap="square">
            <a:spAutoFit/>
          </a:bodyPr>
          <a:lstStyle/>
          <a:p>
            <a:pPr>
              <a:defRPr sz="2800" b="1">
                <a:solidFill>
                  <a:srgbClr val="F8FAFC"/>
                </a:solidFill>
                <a:latin typeface="Segoe UI"/>
              </a:defRPr>
            </a:pPr>
            <a:r>
              <a:t>Technical Architecture &amp; Module Topology</a:t>
            </a:r>
          </a:p>
        </p:txBody>
      </p:sp>
      <p:sp>
        <p:nvSpPr>
          <p:cNvPr id="5" name="Rounded Rectangle 4"/>
          <p:cNvSpPr/>
          <p:nvPr/>
        </p:nvSpPr>
        <p:spPr>
          <a:xfrm>
            <a:off x="731520" y="1645920"/>
            <a:ext cx="5120640" cy="438912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1400" b="1">
                <a:solidFill>
                  <a:srgbClr val="6366F1"/>
                </a:solidFill>
                <a:latin typeface="Consolas"/>
              </a:defRPr>
            </a:pPr>
            <a:r>
              <a:t>BACKEND ENGINE LAYERS (FASTAPI)</a:t>
            </a:r>
          </a:p>
          <a:p>
            <a:pPr>
              <a:lnSpc>
                <a:spcPct val="120000"/>
              </a:lnSpc>
              <a:spcAft>
                <a:spcPts val="1000"/>
              </a:spcAft>
              <a:defRPr sz="1200">
                <a:solidFill>
                  <a:srgbClr val="94A3B8"/>
                </a:solidFill>
                <a:latin typeface="Segoe UI"/>
              </a:defRPr>
            </a:pPr>
            <a:r>
              <a:t>▸ Compiler Module: Evaluates user prompts to output standard JSON graphs.</a:t>
            </a:r>
          </a:p>
          <a:p>
            <a:pPr>
              <a:lnSpc>
                <a:spcPct val="120000"/>
              </a:lnSpc>
              <a:spcAft>
                <a:spcPts val="1000"/>
              </a:spcAft>
              <a:defRPr sz="1200">
                <a:solidFill>
                  <a:srgbClr val="94A3B8"/>
                </a:solidFill>
                <a:latin typeface="Segoe UI"/>
              </a:defRPr>
            </a:pPr>
            <a:r>
              <a:t>▸ Execution Machine: Step-by-step runner handling parallel, sequential, and retries.</a:t>
            </a:r>
          </a:p>
          <a:p>
            <a:pPr>
              <a:lnSpc>
                <a:spcPct val="120000"/>
              </a:lnSpc>
              <a:spcAft>
                <a:spcPts val="1000"/>
              </a:spcAft>
              <a:defRPr sz="1200">
                <a:solidFill>
                  <a:srgbClr val="94A3B8"/>
                </a:solidFill>
                <a:latin typeface="Segoe UI"/>
              </a:defRPr>
            </a:pPr>
            <a:r>
              <a:t>▸ Security boundary: Checks tool names, sanitizes payload injection overrides.</a:t>
            </a:r>
          </a:p>
          <a:p>
            <a:pPr>
              <a:lnSpc>
                <a:spcPct val="120000"/>
              </a:lnSpc>
              <a:spcAft>
                <a:spcPts val="1000"/>
              </a:spcAft>
              <a:defRPr sz="1200">
                <a:solidFill>
                  <a:srgbClr val="94A3B8"/>
                </a:solidFill>
                <a:latin typeface="Segoe UI"/>
              </a:defRPr>
            </a:pPr>
            <a:r>
              <a:t>▸ Secret Broker: Keeps API keys, maps calls with scope credentials.</a:t>
            </a:r>
          </a:p>
          <a:p>
            <a:pPr>
              <a:lnSpc>
                <a:spcPct val="120000"/>
              </a:lnSpc>
              <a:spcAft>
                <a:spcPts val="1000"/>
              </a:spcAft>
              <a:defRPr sz="1200">
                <a:solidFill>
                  <a:srgbClr val="94A3B8"/>
                </a:solidFill>
                <a:latin typeface="Segoe UI"/>
              </a:defRPr>
            </a:pPr>
            <a:r>
              <a:t>▸ SQLite Persistence: Stores agent profiles, runs, events, and artifacts.</a:t>
            </a:r>
          </a:p>
        </p:txBody>
      </p:sp>
      <p:sp>
        <p:nvSpPr>
          <p:cNvPr id="6" name="Rounded Rectangle 5"/>
          <p:cNvSpPr/>
          <p:nvPr/>
        </p:nvSpPr>
        <p:spPr>
          <a:xfrm>
            <a:off x="6217920" y="1645920"/>
            <a:ext cx="5212080" cy="4389120"/>
          </a:xfrm>
          <a:prstGeom prst="roundRect">
            <a:avLst/>
          </a:prstGeom>
          <a:solidFill>
            <a:srgbClr val="111827"/>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1400" b="1">
                <a:solidFill>
                  <a:srgbClr val="06B6D4"/>
                </a:solidFill>
                <a:latin typeface="Consolas"/>
              </a:defRPr>
            </a:pPr>
            <a:r>
              <a:t>FRONTEND &amp; MESSAGE channels (REACT)</a:t>
            </a:r>
          </a:p>
          <a:p>
            <a:pPr>
              <a:lnSpc>
                <a:spcPct val="120000"/>
              </a:lnSpc>
              <a:spcAft>
                <a:spcPts val="1000"/>
              </a:spcAft>
              <a:defRPr sz="1200">
                <a:solidFill>
                  <a:srgbClr val="F8FAFC"/>
                </a:solidFill>
                <a:latin typeface="Segoe UI"/>
              </a:defRPr>
            </a:pPr>
            <a:r>
              <a:t>◆ Goal Editor: Lets users inspect and modify graph variables in real time.</a:t>
            </a:r>
          </a:p>
          <a:p>
            <a:pPr>
              <a:lnSpc>
                <a:spcPct val="120000"/>
              </a:lnSpc>
              <a:spcAft>
                <a:spcPts val="1000"/>
              </a:spcAft>
              <a:defRPr sz="1200">
                <a:solidFill>
                  <a:srgbClr val="F8FAFC"/>
                </a:solidFill>
                <a:latin typeface="Segoe UI"/>
              </a:defRPr>
            </a:pPr>
            <a:r>
              <a:t>◆ Graph Visualiser: Custom render connecting nodes and animating running paths.</a:t>
            </a:r>
          </a:p>
          <a:p>
            <a:pPr>
              <a:lnSpc>
                <a:spcPct val="120000"/>
              </a:lnSpc>
              <a:spcAft>
                <a:spcPts val="1000"/>
              </a:spcAft>
              <a:defRPr sz="1200">
                <a:solidFill>
                  <a:srgbClr val="F8FAFC"/>
                </a:solidFill>
                <a:latin typeface="Segoe UI"/>
              </a:defRPr>
            </a:pPr>
            <a:r>
              <a:t>◆ Audit Log Stream: Streams runtime JSON events (starts, retries, blocks).</a:t>
            </a:r>
          </a:p>
          <a:p>
            <a:pPr>
              <a:lnSpc>
                <a:spcPct val="120000"/>
              </a:lnSpc>
              <a:spcAft>
                <a:spcPts val="1000"/>
              </a:spcAft>
              <a:defRPr sz="1200">
                <a:solidFill>
                  <a:srgbClr val="F8FAFC"/>
                </a:solidFill>
                <a:latin typeface="Segoe UI"/>
              </a:defRPr>
            </a:pPr>
            <a:r>
              <a:t>◆ Artifact Previews: Triggers popups verifying payload validation stamps.</a:t>
            </a:r>
          </a:p>
          <a:p>
            <a:pPr>
              <a:lnSpc>
                <a:spcPct val="120000"/>
              </a:lnSpc>
              <a:spcAft>
                <a:spcPts val="1000"/>
              </a:spcAft>
              <a:defRPr sz="1200">
                <a:solidFill>
                  <a:srgbClr val="F8FAFC"/>
                </a:solidFill>
                <a:latin typeface="Segoe UI"/>
              </a:defRPr>
            </a:pPr>
            <a:r>
              <a:t>◆ Evaluation View: Harness comparing single vs multi-agent execution.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latin typeface="Consolas"/>
              </a:defRPr>
            </a:pPr>
            <a:r>
              <a:t>TECH STACK</a:t>
            </a:r>
          </a:p>
        </p:txBody>
      </p:sp>
      <p:sp>
        <p:nvSpPr>
          <p:cNvPr id="4" name="TextBox 3"/>
          <p:cNvSpPr txBox="1"/>
          <p:nvPr/>
        </p:nvSpPr>
        <p:spPr>
          <a:xfrm>
            <a:off x="731520" y="594360"/>
            <a:ext cx="10698480" cy="731520"/>
          </a:xfrm>
          <a:prstGeom prst="rect">
            <a:avLst/>
          </a:prstGeom>
          <a:noFill/>
        </p:spPr>
        <p:txBody>
          <a:bodyPr wrap="square">
            <a:spAutoFit/>
          </a:bodyPr>
          <a:lstStyle/>
          <a:p>
            <a:pPr>
              <a:defRPr sz="2800" b="1">
                <a:solidFill>
                  <a:srgbClr val="F8FAFC"/>
                </a:solidFill>
                <a:latin typeface="Segoe UI"/>
              </a:defRPr>
            </a:pPr>
            <a:r>
              <a:t>Development Technologies Stack</a:t>
            </a:r>
          </a:p>
        </p:txBody>
      </p:sp>
      <p:sp>
        <p:nvSpPr>
          <p:cNvPr id="5" name="Rounded Rectangle 4"/>
          <p:cNvSpPr/>
          <p:nvPr/>
        </p:nvSpPr>
        <p:spPr>
          <a:xfrm>
            <a:off x="731520" y="1645920"/>
            <a:ext cx="3383280" cy="201168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8FAFC"/>
                </a:solidFill>
                <a:latin typeface="Segoe UI"/>
              </a:defRPr>
            </a:pPr>
            <a:r>
              <a:t>FastAPI</a:t>
            </a:r>
          </a:p>
          <a:p>
            <a:pPr>
              <a:spcAft>
                <a:spcPts val="800"/>
              </a:spcAft>
              <a:defRPr sz="1050" b="1">
                <a:solidFill>
                  <a:srgbClr val="06B6D4"/>
                </a:solidFill>
                <a:latin typeface="Consolas"/>
              </a:defRPr>
            </a:pPr>
            <a:r>
              <a:t>PYTHON</a:t>
            </a:r>
          </a:p>
          <a:p>
            <a:pPr>
              <a:lnSpc>
                <a:spcPct val="120000"/>
              </a:lnSpc>
              <a:defRPr sz="1100">
                <a:solidFill>
                  <a:srgbClr val="94A3B8"/>
                </a:solidFill>
                <a:latin typeface="Segoe UI"/>
              </a:defRPr>
            </a:pPr>
            <a:r>
              <a:t>High-performance API server with automatic OpenAPI docs and routing dependencies.</a:t>
            </a:r>
          </a:p>
        </p:txBody>
      </p:sp>
      <p:sp>
        <p:nvSpPr>
          <p:cNvPr id="6" name="Rounded Rectangle 5"/>
          <p:cNvSpPr/>
          <p:nvPr/>
        </p:nvSpPr>
        <p:spPr>
          <a:xfrm>
            <a:off x="4297680" y="1645920"/>
            <a:ext cx="3383280" cy="201168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8FAFC"/>
                </a:solidFill>
                <a:latin typeface="Segoe UI"/>
              </a:defRPr>
            </a:pPr>
            <a:r>
              <a:t>SQLite</a:t>
            </a:r>
          </a:p>
          <a:p>
            <a:pPr>
              <a:spcAft>
                <a:spcPts val="800"/>
              </a:spcAft>
              <a:defRPr sz="1050" b="1">
                <a:solidFill>
                  <a:srgbClr val="06B6D4"/>
                </a:solidFill>
                <a:latin typeface="Consolas"/>
              </a:defRPr>
            </a:pPr>
            <a:r>
              <a:t>ZERO-OPS DB</a:t>
            </a:r>
          </a:p>
          <a:p>
            <a:pPr>
              <a:lnSpc>
                <a:spcPct val="120000"/>
              </a:lnSpc>
              <a:defRPr sz="1100">
                <a:solidFill>
                  <a:srgbClr val="94A3B8"/>
                </a:solidFill>
                <a:latin typeface="Segoe UI"/>
              </a:defRPr>
            </a:pPr>
            <a:r>
              <a:t>Transactional SQL storage storing graphs, runs, events logs, and artifacts.</a:t>
            </a:r>
          </a:p>
        </p:txBody>
      </p:sp>
      <p:sp>
        <p:nvSpPr>
          <p:cNvPr id="7" name="Rounded Rectangle 6"/>
          <p:cNvSpPr/>
          <p:nvPr/>
        </p:nvSpPr>
        <p:spPr>
          <a:xfrm>
            <a:off x="7863840" y="1645920"/>
            <a:ext cx="3383280" cy="201168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8FAFC"/>
                </a:solidFill>
                <a:latin typeface="Segoe UI"/>
              </a:defRPr>
            </a:pPr>
            <a:r>
              <a:t>React + TS</a:t>
            </a:r>
          </a:p>
          <a:p>
            <a:pPr>
              <a:spcAft>
                <a:spcPts val="800"/>
              </a:spcAft>
              <a:defRPr sz="1050" b="1">
                <a:solidFill>
                  <a:srgbClr val="06B6D4"/>
                </a:solidFill>
                <a:latin typeface="Consolas"/>
              </a:defRPr>
            </a:pPr>
            <a:r>
              <a:t>FRONTEND</a:t>
            </a:r>
          </a:p>
          <a:p>
            <a:pPr>
              <a:lnSpc>
                <a:spcPct val="120000"/>
              </a:lnSpc>
              <a:defRPr sz="1100">
                <a:solidFill>
                  <a:srgbClr val="94A3B8"/>
                </a:solidFill>
                <a:latin typeface="Segoe UI"/>
              </a:defRPr>
            </a:pPr>
            <a:r>
              <a:t>Single-Page Application dashboard with Vite compiler and state hooks.</a:t>
            </a:r>
          </a:p>
        </p:txBody>
      </p:sp>
      <p:sp>
        <p:nvSpPr>
          <p:cNvPr id="8" name="Rounded Rectangle 7"/>
          <p:cNvSpPr/>
          <p:nvPr/>
        </p:nvSpPr>
        <p:spPr>
          <a:xfrm>
            <a:off x="731520" y="3840480"/>
            <a:ext cx="3383280" cy="201168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8FAFC"/>
                </a:solidFill>
                <a:latin typeface="Segoe UI"/>
              </a:defRPr>
            </a:pPr>
            <a:r>
              <a:t>JSON Schema</a:t>
            </a:r>
          </a:p>
          <a:p>
            <a:pPr>
              <a:spcAft>
                <a:spcPts val="800"/>
              </a:spcAft>
              <a:defRPr sz="1050" b="1">
                <a:solidFill>
                  <a:srgbClr val="06B6D4"/>
                </a:solidFill>
                <a:latin typeface="Consolas"/>
              </a:defRPr>
            </a:pPr>
            <a:r>
              <a:t>VALIDATION</a:t>
            </a:r>
          </a:p>
          <a:p>
            <a:pPr>
              <a:lnSpc>
                <a:spcPct val="120000"/>
              </a:lnSpc>
              <a:defRPr sz="1100">
                <a:solidFill>
                  <a:srgbClr val="94A3B8"/>
                </a:solidFill>
                <a:latin typeface="Segoe UI"/>
              </a:defRPr>
            </a:pPr>
            <a:r>
              <a:t>Libraries (`jsonschema` in Python, schemas in React) verifying data contracts.</a:t>
            </a:r>
          </a:p>
        </p:txBody>
      </p:sp>
      <p:sp>
        <p:nvSpPr>
          <p:cNvPr id="9" name="Rounded Rectangle 8"/>
          <p:cNvSpPr/>
          <p:nvPr/>
        </p:nvSpPr>
        <p:spPr>
          <a:xfrm>
            <a:off x="4297680" y="3840480"/>
            <a:ext cx="3383280" cy="201168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8FAFC"/>
                </a:solidFill>
                <a:latin typeface="Segoe UI"/>
              </a:defRPr>
            </a:pPr>
            <a:r>
              <a:t>Ollama / APIs</a:t>
            </a:r>
          </a:p>
          <a:p>
            <a:pPr>
              <a:spcAft>
                <a:spcPts val="800"/>
              </a:spcAft>
              <a:defRPr sz="1050" b="1">
                <a:solidFill>
                  <a:srgbClr val="06B6D4"/>
                </a:solidFill>
                <a:latin typeface="Consolas"/>
              </a:defRPr>
            </a:pPr>
            <a:r>
              <a:t>LLM PROVIDERS</a:t>
            </a:r>
          </a:p>
          <a:p>
            <a:pPr>
              <a:lnSpc>
                <a:spcPct val="120000"/>
              </a:lnSpc>
              <a:defRPr sz="1100">
                <a:solidFill>
                  <a:srgbClr val="94A3B8"/>
                </a:solidFill>
                <a:latin typeface="Segoe UI"/>
              </a:defRPr>
            </a:pPr>
            <a:r>
              <a:t>Local Llama integration with API fallbacks (OpenAI, Anthropic) and Mock Resiliency.</a:t>
            </a:r>
          </a:p>
        </p:txBody>
      </p:sp>
      <p:sp>
        <p:nvSpPr>
          <p:cNvPr id="10" name="Rounded Rectangle 9"/>
          <p:cNvSpPr/>
          <p:nvPr/>
        </p:nvSpPr>
        <p:spPr>
          <a:xfrm>
            <a:off x="7863840" y="3840480"/>
            <a:ext cx="3383280" cy="201168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8FAFC"/>
                </a:solidFill>
                <a:latin typeface="Segoe UI"/>
              </a:defRPr>
            </a:pPr>
            <a:r>
              <a:t>Lucide / CSS</a:t>
            </a:r>
          </a:p>
          <a:p>
            <a:pPr>
              <a:spcAft>
                <a:spcPts val="800"/>
              </a:spcAft>
              <a:defRPr sz="1050" b="1">
                <a:solidFill>
                  <a:srgbClr val="06B6D4"/>
                </a:solidFill>
                <a:latin typeface="Consolas"/>
              </a:defRPr>
            </a:pPr>
            <a:r>
              <a:t>AESTHETICS</a:t>
            </a:r>
          </a:p>
          <a:p>
            <a:pPr>
              <a:lnSpc>
                <a:spcPct val="120000"/>
              </a:lnSpc>
              <a:defRPr sz="1100">
                <a:solidFill>
                  <a:srgbClr val="94A3B8"/>
                </a:solidFill>
                <a:latin typeface="Segoe UI"/>
              </a:defRPr>
            </a:pPr>
            <a:r>
              <a:t>Lucide icons, custom CSS variables, and animated cybernetic elements.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latin typeface="Consolas"/>
              </a:defRPr>
            </a:pPr>
            <a:r>
              <a:t>BENCHMARKS &amp; AUDITING</a:t>
            </a:r>
          </a:p>
        </p:txBody>
      </p:sp>
      <p:sp>
        <p:nvSpPr>
          <p:cNvPr id="4" name="TextBox 3"/>
          <p:cNvSpPr txBox="1"/>
          <p:nvPr/>
        </p:nvSpPr>
        <p:spPr>
          <a:xfrm>
            <a:off x="731520" y="594360"/>
            <a:ext cx="10698480" cy="731520"/>
          </a:xfrm>
          <a:prstGeom prst="rect">
            <a:avLst/>
          </a:prstGeom>
          <a:noFill/>
        </p:spPr>
        <p:txBody>
          <a:bodyPr wrap="square">
            <a:spAutoFit/>
          </a:bodyPr>
          <a:lstStyle/>
          <a:p>
            <a:pPr>
              <a:defRPr sz="2800" b="1">
                <a:solidFill>
                  <a:srgbClr val="F8FAFC"/>
                </a:solidFill>
                <a:latin typeface="Segoe UI"/>
              </a:defRPr>
            </a:pPr>
            <a:r>
              <a:t>Cost &amp; Performance Harness Evaluation</a:t>
            </a:r>
          </a:p>
        </p:txBody>
      </p:sp>
      <p:sp>
        <p:nvSpPr>
          <p:cNvPr id="5" name="Rounded Rectangle 4"/>
          <p:cNvSpPr/>
          <p:nvPr/>
        </p:nvSpPr>
        <p:spPr>
          <a:xfrm>
            <a:off x="731520" y="1645920"/>
            <a:ext cx="5120640" cy="4389120"/>
          </a:xfrm>
          <a:prstGeom prst="roundRect">
            <a:avLst/>
          </a:prstGeom>
          <a:solidFill>
            <a:srgbClr val="111827"/>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1400" b="1">
                <a:solidFill>
                  <a:srgbClr val="06B6D4"/>
                </a:solidFill>
                <a:latin typeface="Consolas"/>
              </a:defRPr>
            </a:pPr>
            <a:r>
              <a:t>RUN-TIME COST LEDGER</a:t>
            </a:r>
          </a:p>
          <a:p>
            <a:pPr>
              <a:lnSpc>
                <a:spcPct val="120000"/>
              </a:lnSpc>
              <a:spcAft>
                <a:spcPts val="1000"/>
              </a:spcAft>
              <a:defRPr sz="1200">
                <a:solidFill>
                  <a:srgbClr val="94A3B8"/>
                </a:solidFill>
                <a:latin typeface="Segoe UI"/>
              </a:defRPr>
            </a:pPr>
            <a:r>
              <a:t>▸ SQLite Database Hosting: $0 (zero-ops local file).</a:t>
            </a:r>
          </a:p>
          <a:p>
            <a:pPr>
              <a:lnSpc>
                <a:spcPct val="120000"/>
              </a:lnSpc>
              <a:spcAft>
                <a:spcPts val="1000"/>
              </a:spcAft>
              <a:defRPr sz="1200">
                <a:solidFill>
                  <a:srgbClr val="94A3B8"/>
                </a:solidFill>
                <a:latin typeface="Segoe UI"/>
              </a:defRPr>
            </a:pPr>
            <a:r>
              <a:t>▸ Ollama Local LLM Runs: $0 (local hardware execution).</a:t>
            </a:r>
          </a:p>
          <a:p>
            <a:pPr>
              <a:lnSpc>
                <a:spcPct val="120000"/>
              </a:lnSpc>
              <a:spcAft>
                <a:spcPts val="1000"/>
              </a:spcAft>
              <a:defRPr sz="1200">
                <a:solidFill>
                  <a:srgbClr val="94A3B8"/>
                </a:solidFill>
                <a:latin typeface="Segoe UI"/>
              </a:defRPr>
            </a:pPr>
            <a:r>
              <a:t>▸ OpenAI API cost check: GPT-4o-mini is ~$0.15 / 1M input tokens. Average compiler call is less than $0.0001.</a:t>
            </a:r>
          </a:p>
          <a:p>
            <a:pPr>
              <a:lnSpc>
                <a:spcPct val="120000"/>
              </a:lnSpc>
              <a:spcAft>
                <a:spcPts val="1000"/>
              </a:spcAft>
              <a:defRPr sz="1200">
                <a:solidFill>
                  <a:srgbClr val="94A3B8"/>
                </a:solidFill>
                <a:latin typeface="Segoe UI"/>
              </a:defRPr>
            </a:pPr>
            <a:r>
              <a:t>▸ Anthropic API cost check: Claude-3-5-sonnet is ~$3.0 / 1M input tokens. Average review verification step is ~$0.002.</a:t>
            </a:r>
          </a:p>
          <a:p>
            <a:pPr>
              <a:lnSpc>
                <a:spcPct val="120000"/>
              </a:lnSpc>
              <a:spcAft>
                <a:spcPts val="1000"/>
              </a:spcAft>
              <a:defRPr sz="1200">
                <a:solidFill>
                  <a:srgbClr val="94A3B8"/>
                </a:solidFill>
                <a:latin typeface="Segoe UI"/>
              </a:defRPr>
            </a:pPr>
            <a:r>
              <a:t>▸ Total Sandbox Cost: $0 (unlimited local testing using the robust rule-based mock provider fallback).</a:t>
            </a:r>
          </a:p>
        </p:txBody>
      </p:sp>
      <p:sp>
        <p:nvSpPr>
          <p:cNvPr id="6" name="Rounded Rectangle 5"/>
          <p:cNvSpPr/>
          <p:nvPr/>
        </p:nvSpPr>
        <p:spPr>
          <a:xfrm>
            <a:off x="6217920" y="1645920"/>
            <a:ext cx="5212080" cy="4389120"/>
          </a:xfrm>
          <a:prstGeom prst="roundRect">
            <a:avLst/>
          </a:prstGeom>
          <a:solidFill>
            <a:srgbClr val="111827"/>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1400" b="1">
                <a:solidFill>
                  <a:srgbClr val="6366F1"/>
                </a:solidFill>
                <a:latin typeface="Consolas"/>
              </a:defRPr>
            </a:pPr>
            <a:r>
              <a:t>EVALUATION HARNESS AUDIT</a:t>
            </a:r>
          </a:p>
          <a:p>
            <a:pPr>
              <a:lnSpc>
                <a:spcPct val="120000"/>
              </a:lnSpc>
              <a:spcAft>
                <a:spcPts val="1000"/>
              </a:spcAft>
              <a:defRPr sz="1200">
                <a:solidFill>
                  <a:srgbClr val="F8FAFC"/>
                </a:solidFill>
                <a:latin typeface="Segoe UI"/>
              </a:defRPr>
            </a:pPr>
            <a:r>
              <a:t>◆ Single vs. Multi-Agent Benchmark: Evaluates execution across 3 default task templates, logging cost, latency and success rates.</a:t>
            </a:r>
          </a:p>
          <a:p>
            <a:pPr>
              <a:lnSpc>
                <a:spcPct val="120000"/>
              </a:lnSpc>
              <a:spcAft>
                <a:spcPts val="1000"/>
              </a:spcAft>
              <a:defRPr sz="1200">
                <a:solidFill>
                  <a:srgbClr val="F8FAFC"/>
                </a:solidFill>
                <a:latin typeface="Segoe UI"/>
              </a:defRPr>
            </a:pPr>
            <a:r>
              <a:t>◆ Marginal Agent Value reporting: Reports when extra agents add complexity without improving accuracy (preventing bloat).</a:t>
            </a:r>
          </a:p>
          <a:p>
            <a:pPr>
              <a:lnSpc>
                <a:spcPct val="120000"/>
              </a:lnSpc>
              <a:spcAft>
                <a:spcPts val="1000"/>
              </a:spcAft>
              <a:defRPr sz="1200">
                <a:solidFill>
                  <a:srgbClr val="F8FAFC"/>
                </a:solidFill>
                <a:latin typeface="Segoe UI"/>
              </a:defRPr>
            </a:pPr>
            <a:r>
              <a:t>◆ Recovery Rate audit: Logs recovery frequency when parallel paths hit timeouts, demonstrating retry loop integrity.</a:t>
            </a:r>
          </a:p>
          <a:p>
            <a:pPr>
              <a:lnSpc>
                <a:spcPct val="120000"/>
              </a:lnSpc>
              <a:spcAft>
                <a:spcPts val="1000"/>
              </a:spcAft>
              <a:defRPr sz="1200">
                <a:solidFill>
                  <a:srgbClr val="F8FAFC"/>
                </a:solidFill>
                <a:latin typeface="Segoe UI"/>
              </a:defRPr>
            </a:pPr>
            <a:r>
              <a:t>◆ Deterministic replay tests: Compares original vs replayed logs to detect logic drift in model configurations.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011680"/>
            <a:ext cx="10058400" cy="2011680"/>
          </a:xfrm>
          <a:prstGeom prst="rect">
            <a:avLst/>
          </a:prstGeom>
          <a:noFill/>
        </p:spPr>
        <p:txBody>
          <a:bodyPr wrap="square">
            <a:spAutoFit/>
          </a:bodyPr>
          <a:lstStyle/>
          <a:p>
            <a:pPr>
              <a:defRPr sz="7200" b="1">
                <a:solidFill>
                  <a:srgbClr val="06B6D4"/>
                </a:solidFill>
                <a:latin typeface="Segoe UI"/>
              </a:defRPr>
            </a:pPr>
            <a:r>
              <a:t>THANK YOU</a:t>
            </a:r>
          </a:p>
          <a:p>
            <a:pPr>
              <a:spcBef>
                <a:spcPts val="600"/>
              </a:spcBef>
              <a:defRPr sz="2400">
                <a:solidFill>
                  <a:srgbClr val="6366F1"/>
                </a:solidFill>
                <a:latin typeface="Segoe UI"/>
              </a:defRPr>
            </a:pPr>
            <a:r>
              <a:t>AE-03: Unified Agent Form Orchestrator</a:t>
            </a:r>
          </a:p>
        </p:txBody>
      </p:sp>
      <p:sp>
        <p:nvSpPr>
          <p:cNvPr id="4" name="TextBox 3"/>
          <p:cNvSpPr txBox="1"/>
          <p:nvPr/>
        </p:nvSpPr>
        <p:spPr>
          <a:xfrm>
            <a:off x="1097280" y="4114800"/>
            <a:ext cx="10058400" cy="1828800"/>
          </a:xfrm>
          <a:prstGeom prst="rect">
            <a:avLst/>
          </a:prstGeom>
          <a:noFill/>
        </p:spPr>
        <p:txBody>
          <a:bodyPr wrap="square">
            <a:spAutoFit/>
          </a:bodyPr>
          <a:lstStyle/>
          <a:p>
            <a:pPr>
              <a:defRPr sz="1400" b="1">
                <a:solidFill>
                  <a:srgbClr val="F8FAFC"/>
                </a:solidFill>
                <a:latin typeface="Segoe UI"/>
              </a:defRPr>
            </a:pPr>
            <a:r>
              <a:t>Contact Email: [Enter your Email]</a:t>
            </a:r>
            <a:br/>
            <a:r>
              <a:rPr sz="1400" b="1">
                <a:solidFill>
                  <a:srgbClr val="F8FAFC"/>
                </a:solidFill>
                <a:latin typeface="Segoe UI"/>
              </a:rPr>
              <a:t>GitHub Repository: https://github.com/Goldengrab/YCCE
</a:t>
            </a:r>
            <a:r>
              <a:rPr sz="1300" i="1">
                <a:solidFill>
                  <a:srgbClr val="94A3B8"/>
                </a:solidFill>
                <a:latin typeface="Segoe UI"/>
              </a:rPr>
              <a:t>Advanced Agentic Systems Challenge — AE-03 Solution Blueprint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